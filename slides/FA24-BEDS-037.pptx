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vgfig1.svg" ContentType="image/svg+xml"/>
  <Override PartName="/ppt/media/svgfig2.svg" ContentType="image/svg+xml"/>
  <Override PartName="/ppt/media/svgfig3.svg" ContentType="image/svg+xml"/>
  <Override PartName="/ppt/media/svgfig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svgfig1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svgfig2.svg"/><Relationship Id="rId4" Type="http://schemas.openxmlformats.org/officeDocument/2006/relationships/image" Target="../media/image3.png"/><Relationship Id="rId5" Type="http://schemas.openxmlformats.org/officeDocument/2006/relationships/image" Target="../media/svgfig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svgfig4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B5442C"/>
                </a:solidFill>
                <a:latin typeface="Calibri"/>
              </a:rPr>
              <a:t>ECO346 · ASSIGNMENT 1 · FA24-BEDS-037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1F242B"/>
                </a:solidFill>
                <a:latin typeface="Calibri"/>
              </a:rPr>
              <a:t>How earnings are spread, and how they change with age, in urban Khyber Pakhtunkhwa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242B"/>
                </a:solidFill>
                <a:latin typeface="Calibri"/>
              </a:rPr>
              <a:t>My variant:  </a:t>
            </a:r>
            <a:r>
              <a:rPr sz="2000" b="0">
                <a:solidFill>
                  <a:srgbClr val="1F242B"/>
                </a:solidFill>
                <a:latin typeface="Calibri"/>
              </a:rPr>
              <a:t>37 = 4 × 8 + 5  →  variant 5  →  KP urban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1F242B"/>
                </a:solidFill>
                <a:latin typeface="Calibri"/>
              </a:rPr>
              <a:t>Data:  </a:t>
            </a:r>
            <a:r>
              <a:rPr sz="2000" b="0">
                <a:solidFill>
                  <a:srgbClr val="1F242B"/>
                </a:solidFill>
                <a:latin typeface="Calibri"/>
              </a:rPr>
              <a:t>PSLM 2019–20 person file, merged with the household file by hhid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1F242B"/>
                </a:solidFill>
                <a:latin typeface="Calibri"/>
              </a:rPr>
              <a:t>Sample:  </a:t>
            </a:r>
            <a:r>
              <a:rPr sz="2000" b="0">
                <a:solidFill>
                  <a:srgbClr val="1F242B"/>
                </a:solidFill>
                <a:latin typeface="Calibri"/>
              </a:rPr>
              <a:t>678 earners aged 15–64 with annual earnings above zero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1F242B"/>
                </a:solidFill>
                <a:latin typeface="Calibri"/>
              </a:rPr>
              <a:t>Weights:  </a:t>
            </a:r>
            <a:r>
              <a:rPr sz="2000" b="0">
                <a:solidFill>
                  <a:srgbClr val="1F242B"/>
                </a:solidFill>
                <a:latin typeface="Calibri"/>
              </a:rPr>
              <a:t>every statistic weighted by hhweight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4C7EA8"/>
                </a:solidFill>
                <a:latin typeface="Calibri"/>
              </a:rPr>
              <a:t>Rs 240,000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15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5A636E"/>
                </a:solidFill>
                <a:latin typeface="Calibri"/>
              </a:rPr>
              <a:t>weighted median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51206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4C7EA8"/>
                </a:solidFill>
                <a:latin typeface="Calibri"/>
              </a:rPr>
              <a:t>5.44×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5715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5A636E"/>
                </a:solidFill>
                <a:latin typeface="Calibri"/>
              </a:rPr>
              <a:t>90th / 10th percentile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51206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B5442C"/>
                </a:solidFill>
                <a:latin typeface="Calibri"/>
              </a:rPr>
              <a:t>55–59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5715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5A636E"/>
                </a:solidFill>
                <a:latin typeface="Calibri"/>
              </a:rPr>
              <a:t>age band with highest mean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5A636E"/>
                </a:solidFill>
                <a:latin typeface="Calibri"/>
              </a:rPr>
              <a:t>ECO346 Assignment 1 · FA24-BEDS-037 · 1/4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B5442C"/>
                </a:solidFill>
                <a:latin typeface="Calibri"/>
              </a:rPr>
              <a:t>Q2 · THE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F242B"/>
                </a:solidFill>
                <a:latin typeface="Calibri"/>
              </a:rPr>
              <a:t>Half of earners make under Rs 240,000 a year</a:t>
            </a:r>
          </a:p>
        </p:txBody>
      </p:sp>
      <p:pic>
        <p:nvPicPr>
          <p:cNvPr id="4" name="distribution" descr="distribution_fallback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1508760"/>
            <a:ext cx="6949440" cy="47777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173736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F242B"/>
                </a:solidFill>
                <a:latin typeface="Calibri"/>
              </a:rPr>
              <a:t>Weighted histogram on a log scale, 0.1-wide bins from Rs 10,000 to Rs 10 million.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42B"/>
                </a:solidFill>
                <a:latin typeface="Calibri"/>
              </a:rPr>
              <a:t>Top tenth earn over Rs 588,000: 5.44 times the bottom tenth (Rs 108,000).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42B"/>
                </a:solidFill>
                <a:latin typeface="Calibri"/>
              </a:rPr>
              <a:t>Weighted and unweighted medians are both Rs 240,000: about 5% of earners report exactly Rs 20,000 a month, so both cross 50% inside that heap.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42B"/>
                </a:solidFill>
                <a:latin typeface="Calibri"/>
              </a:rPr>
              <a:t>1 earner (Rs 5,000) falls outside the plotted range.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5A636E"/>
                </a:solidFill>
                <a:latin typeface="Calibri"/>
              </a:rPr>
              <a:t>ECO346 Assignment 1 · FA24-BEDS-037 · 2/4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B5442C"/>
                </a:solidFill>
                <a:latin typeface="Calibri"/>
              </a:rPr>
              <a:t>Q4 · THE MAKEOVER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F242B"/>
                </a:solidFill>
                <a:latin typeface="Calibri"/>
              </a:rPr>
              <a:t>From R's default to a figure that answers 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5A636E"/>
                </a:solidFill>
                <a:latin typeface="Calibri"/>
              </a:rPr>
              <a:t>BEFORE: ggplot() + geom_point()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B5442C"/>
                </a:solidFill>
                <a:latin typeface="Calibri"/>
              </a:rPr>
              <a:t>AFTER: redesign (Q3)</a:t>
            </a:r>
          </a:p>
        </p:txBody>
      </p:sp>
      <p:pic>
        <p:nvPicPr>
          <p:cNvPr id="6" name="default" descr="default_fallback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1828800"/>
            <a:ext cx="5486400" cy="3771900"/>
          </a:xfrm>
          <a:prstGeom prst="rect">
            <a:avLst/>
          </a:prstGeom>
        </p:spPr>
      </p:pic>
      <p:pic>
        <p:nvPicPr>
          <p:cNvPr id="7" name="age_earnings" descr="age_earnings_fallback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63640" y="1828800"/>
            <a:ext cx="5486400" cy="3771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F242B"/>
                </a:solidFill>
                <a:latin typeface="Calibri"/>
              </a:rPr>
              <a:t>Log scale</a:t>
            </a:r>
            <a:r>
              <a:rPr sz="1400" b="0">
                <a:solidFill>
                  <a:srgbClr val="1F242B"/>
                </a:solidFill>
                <a:latin typeface="Calibri"/>
              </a:rPr>
              <a:t> spreads incomes out  ·  </a:t>
            </a:r>
            <a:r>
              <a:rPr sz="1400" b="1">
                <a:solidFill>
                  <a:srgbClr val="1F242B"/>
                </a:solidFill>
                <a:latin typeface="Calibri"/>
              </a:rPr>
              <a:t>Transparency + jitter</a:t>
            </a:r>
            <a:r>
              <a:rPr sz="1400" b="0">
                <a:solidFill>
                  <a:srgbClr val="1F242B"/>
                </a:solidFill>
                <a:latin typeface="Calibri"/>
              </a:rPr>
              <a:t> fix overplotting  ·  </a:t>
            </a:r>
            <a:r>
              <a:rPr sz="1400" b="1">
                <a:solidFill>
                  <a:srgbClr val="1F242B"/>
                </a:solidFill>
                <a:latin typeface="Calibri"/>
              </a:rPr>
              <a:t>Weighted band means</a:t>
            </a:r>
            <a:r>
              <a:rPr sz="1400" b="0">
                <a:solidFill>
                  <a:srgbClr val="1F242B"/>
                </a:solidFill>
                <a:latin typeface="Calibri"/>
              </a:rPr>
              <a:t> show the trend  ·  </a:t>
            </a:r>
            <a:r>
              <a:rPr sz="1400" b="1">
                <a:solidFill>
                  <a:srgbClr val="1F242B"/>
                </a:solidFill>
                <a:latin typeface="Calibri"/>
              </a:rPr>
              <a:t>Less ink</a:t>
            </a:r>
            <a:r>
              <a:rPr sz="1400" b="0">
                <a:solidFill>
                  <a:srgbClr val="1F242B"/>
                </a:solidFill>
                <a:latin typeface="Calibri"/>
              </a:rPr>
              <a:t>, finding in the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5A636E"/>
                </a:solidFill>
                <a:latin typeface="Calibri"/>
              </a:rPr>
              <a:t>ECO346 Assignment 1 · FA24-BEDS-037 · 3/4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B5442C"/>
                </a:solidFill>
                <a:latin typeface="Calibri"/>
              </a:rPr>
              <a:t>Q3 · THE FINDING THAT MATTERS MOST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F242B"/>
                </a:solidFill>
                <a:latin typeface="Calibri"/>
              </a:rPr>
              <a:t>Average earnings triple from the teens to the late fifties</a:t>
            </a:r>
          </a:p>
        </p:txBody>
      </p:sp>
      <p:pic>
        <p:nvPicPr>
          <p:cNvPr id="4" name="age_earnings" descr="age_earnings_fallback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1508760"/>
            <a:ext cx="6949440" cy="47777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173736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F242B"/>
                </a:solidFill>
                <a:latin typeface="Calibri"/>
              </a:rPr>
              <a:t>Weighted mean rises from Rs 152,102 (15–19) to Rs 461,593 (55–59).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42B"/>
                </a:solidFill>
                <a:latin typeface="Calibri"/>
              </a:rPr>
              <a:t>Steepest gains come early: Rs 289,679 by 25–29, then a plateau near Rs 360,000–377,000 in the 35–49 bands.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42B"/>
                </a:solidFill>
                <a:latin typeface="Calibri"/>
              </a:rPr>
              <a:t>60–64 drops, but rests on only 15 earners (hollow marker = thin band).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42B"/>
                </a:solidFill>
                <a:latin typeface="Calibri"/>
              </a:rPr>
              <a:t>Caution: one cross-section mixes age with cohort, so this is not one person's career path.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5A636E"/>
                </a:solidFill>
                <a:latin typeface="Calibri"/>
              </a:rPr>
              <a:t>ECO346 Assignment 1 · FA24-BEDS-037 · 4/4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